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1" r:id="rId6"/>
    <p:sldId id="270" r:id="rId7"/>
    <p:sldId id="272" r:id="rId8"/>
    <p:sldId id="273" r:id="rId9"/>
    <p:sldId id="278" r:id="rId10"/>
    <p:sldId id="279" r:id="rId11"/>
    <p:sldId id="276" r:id="rId12"/>
    <p:sldId id="277" r:id="rId13"/>
    <p:sldId id="281" r:id="rId14"/>
    <p:sldId id="283" r:id="rId15"/>
    <p:sldId id="264" r:id="rId16"/>
    <p:sldId id="265" r:id="rId17"/>
  </p:sldIdLst>
  <p:sldSz cx="14630400" cy="8229600"/>
  <p:notesSz cx="8229600" cy="14630400"/>
  <p:embeddedFontLst>
    <p:embeddedFont>
      <p:font typeface="Noto Sans TC" panose="020B0604020202020204" charset="-128"/>
      <p:regular r:id="rId19"/>
    </p:embeddedFont>
    <p:embeddedFont>
      <p:font typeface="Sora Medium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55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9" Type="http://schemas.openxmlformats.org/officeDocument/2006/relationships/image" Target="../media/image2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5860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Precision-Scalable NPU (4×4)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666887"/>
            <a:ext cx="7556421" cy="170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 Multi-Precision Neural Processing Unit using INT2 / INT4 / INT8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570797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Team Presentation | Edge AI Hardware Design</a:t>
            </a:r>
            <a:b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</a:br>
            <a:r>
              <a:rPr lang="en-IN" dirty="0">
                <a:solidFill>
                  <a:srgbClr val="BBDEFB"/>
                </a:solidFill>
              </a:rPr>
              <a:t>TEAM :</a:t>
            </a:r>
          </a:p>
          <a:p>
            <a:r>
              <a:rPr lang="en-IN" dirty="0">
                <a:solidFill>
                  <a:srgbClr val="BBDEFB"/>
                </a:solidFill>
              </a:rPr>
              <a:t>	Sanjay Krishna A [ 23BEC0113 ]</a:t>
            </a:r>
          </a:p>
          <a:p>
            <a:r>
              <a:rPr lang="en-IN" dirty="0">
                <a:solidFill>
                  <a:srgbClr val="BBDEFB"/>
                </a:solidFill>
              </a:rPr>
              <a:t>	Hari Kruthik SK [ 23BEC0358 ]</a:t>
            </a:r>
          </a:p>
          <a:p>
            <a:r>
              <a:rPr lang="en-IN" dirty="0">
                <a:solidFill>
                  <a:srgbClr val="BBDEFB"/>
                </a:solidFill>
              </a:rPr>
              <a:t>	Sriram KP [ 23BEC0206 ]</a:t>
            </a:r>
          </a:p>
          <a:p>
            <a:r>
              <a:rPr lang="en-IN" dirty="0">
                <a:solidFill>
                  <a:srgbClr val="BBDEFB"/>
                </a:solidFill>
              </a:rPr>
              <a:t>	Kamalesh [ 23BEC0298 ]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31746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Problem Statement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69025" y="1744028"/>
            <a:ext cx="6439733" cy="2820472"/>
          </a:xfrm>
          <a:prstGeom prst="roundRect">
            <a:avLst>
              <a:gd name="adj" fmla="val 1169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695" y="1963698"/>
            <a:ext cx="659130" cy="65913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9908" y="2144911"/>
            <a:ext cx="296585" cy="2965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8695" y="2835593"/>
            <a:ext cx="3624739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Fixed Precision Limitation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988695" y="3306485"/>
            <a:ext cx="6000393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Existing NPUs operate at fixed precision (typically INT8 or higher), limiting flexibility for diverse neural network workloads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421523" y="1744028"/>
            <a:ext cx="6439853" cy="2820472"/>
          </a:xfrm>
          <a:prstGeom prst="roundRect">
            <a:avLst>
              <a:gd name="adj" fmla="val 1169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1193" y="1963698"/>
            <a:ext cx="659130" cy="65913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2406" y="2144911"/>
            <a:ext cx="296585" cy="2965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193" y="2835593"/>
            <a:ext cx="3066574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Hardware Duplication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641193" y="3306485"/>
            <a:ext cx="6000512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Supporting multiple precisions requires separate hardware blocks, increasing cost, area, and power consumption significantly</a:t>
            </a:r>
            <a:endParaRPr lang="en-US" sz="1700" dirty="0"/>
          </a:p>
        </p:txBody>
      </p:sp>
      <p:sp>
        <p:nvSpPr>
          <p:cNvPr id="13" name="Shape 7"/>
          <p:cNvSpPr/>
          <p:nvPr/>
        </p:nvSpPr>
        <p:spPr>
          <a:xfrm>
            <a:off x="769025" y="4777264"/>
            <a:ext cx="6439733" cy="2820472"/>
          </a:xfrm>
          <a:prstGeom prst="roundRect">
            <a:avLst>
              <a:gd name="adj" fmla="val 1169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695" y="4996934"/>
            <a:ext cx="659130" cy="659130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9908" y="5178147"/>
            <a:ext cx="296585" cy="29658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8695" y="5868829"/>
            <a:ext cx="3132177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Edge AI Flexibility Gap</a:t>
            </a:r>
            <a:endParaRPr lang="en-US" sz="2150" dirty="0"/>
          </a:p>
        </p:txBody>
      </p:sp>
      <p:sp>
        <p:nvSpPr>
          <p:cNvPr id="17" name="Text 9"/>
          <p:cNvSpPr/>
          <p:nvPr/>
        </p:nvSpPr>
        <p:spPr>
          <a:xfrm>
            <a:off x="988695" y="6339721"/>
            <a:ext cx="6000393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Edge systems need runtime trade-offs between performance and power efficiency across different precision levels</a:t>
            </a:r>
            <a:endParaRPr lang="en-US" sz="1700" dirty="0"/>
          </a:p>
        </p:txBody>
      </p:sp>
      <p:sp>
        <p:nvSpPr>
          <p:cNvPr id="18" name="Shape 10"/>
          <p:cNvSpPr/>
          <p:nvPr/>
        </p:nvSpPr>
        <p:spPr>
          <a:xfrm>
            <a:off x="7421523" y="4777264"/>
            <a:ext cx="6439853" cy="2820472"/>
          </a:xfrm>
          <a:prstGeom prst="roundRect">
            <a:avLst>
              <a:gd name="adj" fmla="val 1169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41193" y="4996934"/>
            <a:ext cx="659130" cy="659130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22406" y="5178147"/>
            <a:ext cx="296585" cy="29658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41193" y="5868829"/>
            <a:ext cx="2770108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No Unified Solution</a:t>
            </a:r>
            <a:endParaRPr lang="en-US" sz="2150" dirty="0"/>
          </a:p>
        </p:txBody>
      </p:sp>
      <p:sp>
        <p:nvSpPr>
          <p:cNvPr id="22" name="Text 12"/>
          <p:cNvSpPr/>
          <p:nvPr/>
        </p:nvSpPr>
        <p:spPr>
          <a:xfrm>
            <a:off x="7641193" y="6339721"/>
            <a:ext cx="6000512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Lack of integrated hardware supporting runtime precision scaling for matrix operations in neural networks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90017"/>
            <a:ext cx="74443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Our Solution &amp; Innovation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889522"/>
            <a:ext cx="392930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Architecture Overview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2654975"/>
            <a:ext cx="75564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4×4 NPU built with precision-scalable MAC units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Unified hardware for INT2, INT4, INT8 operations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Weight-stationary systolic-style design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 parallel MAC tiles for matrix computation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68463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Key Innovations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6280190" y="5450086"/>
            <a:ext cx="75564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Single datapath supports multiple precisions without duplication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Runtime precision switching via mode signal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4× throughput boost at INT2, 2× at INT4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FPGA-friendly, scalable, low-cost implementation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0413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Precision Scaling Concept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46185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Single hardware block adapts to different precision requirements dynamically</a:t>
            </a:r>
            <a:endParaRPr lang="en-US" sz="17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442811"/>
            <a:ext cx="1134070" cy="13608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54674" y="36696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INT8 Mode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154674" y="416004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Full 8-bit precision for accuracy-critical operations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803696"/>
            <a:ext cx="1134070" cy="13608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154674" y="50305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INT4 Mode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2154674" y="552092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2× throughput by packing two 4-bit values per 8-bit lane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164580"/>
            <a:ext cx="1134070" cy="13608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154674" y="63913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INT2 Mode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2154674" y="688181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4× throughput using four 2-bit values per 8-bit lane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26742" cy="680314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0314"/>
            <a:ext cx="14626742" cy="38405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9184" y="54864"/>
            <a:ext cx="1097280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SBB — Simple Bit Brick</a:t>
            </a:r>
            <a:endParaRPr lang="en-US" sz="1920" dirty="0"/>
          </a:p>
        </p:txBody>
      </p:sp>
      <p:sp>
        <p:nvSpPr>
          <p:cNvPr id="5" name="Text 3"/>
          <p:cNvSpPr/>
          <p:nvPr/>
        </p:nvSpPr>
        <p:spPr>
          <a:xfrm>
            <a:off x="329184" y="54864"/>
            <a:ext cx="1393545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8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2×2-bit signed Baugh-Wooley multiplier · gate-level implementation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0" y="8097926"/>
            <a:ext cx="14626742" cy="13167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9184" y="8097926"/>
            <a:ext cx="9875520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PSMAC NPU  —  Precision-Scalable Multiply-Accumulate Unit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13716000" y="8097926"/>
            <a:ext cx="877824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4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197510" y="822960"/>
            <a:ext cx="8558784" cy="5980176"/>
          </a:xfrm>
          <a:prstGeom prst="rect">
            <a:avLst/>
          </a:prstGeom>
          <a:solidFill>
            <a:srgbClr val="FFFFFF"/>
          </a:solidFill>
          <a:ln w="1905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97510" y="822960"/>
            <a:ext cx="8558784" cy="285293"/>
          </a:xfrm>
          <a:prstGeom prst="rect">
            <a:avLst/>
          </a:prstGeom>
          <a:solidFill>
            <a:srgbClr val="00796B"/>
          </a:solidFill>
          <a:ln/>
        </p:spPr>
        <p:txBody>
          <a:bodyPr wrap="square" rtlCol="0" anchor="ctr"/>
          <a:lstStyle/>
          <a:p>
            <a:pPr algn="ctr"/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Schematic</a:t>
            </a:r>
            <a:endParaRPr lang="en-US" sz="96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1401" y="1130198"/>
            <a:ext cx="8471002" cy="561807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019642" y="822960"/>
            <a:ext cx="5376672" cy="24140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9019642" y="822960"/>
            <a:ext cx="5376672" cy="30723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085478" y="833933"/>
            <a:ext cx="526694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SBB?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9085479" y="1163117"/>
            <a:ext cx="5244998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atomic compute cell — the smallest multiplier unit.
</a:t>
            </a:r>
            <a:r>
              <a:rPr lang="en-US" sz="96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x[2:0], y[2:0], sx (sign-x), sy (sign-y)
</a:t>
            </a:r>
            <a:r>
              <a:rPr lang="en-US" sz="96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p[4:0] — 5-bit signed product
</a:t>
            </a:r>
            <a:r>
              <a:rPr lang="en-US" sz="96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Baugh-Wooley signed multiplication using AND gates, Half Adders (HA) and Full Adders (FA). No standard multiplier primitive used.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019642" y="3401568"/>
            <a:ext cx="5376672" cy="17007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9019642" y="3401568"/>
            <a:ext cx="5376672" cy="30723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9085478" y="3412541"/>
            <a:ext cx="526694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Optimisation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9085479" y="3741725"/>
            <a:ext cx="524499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2×2 signed multiply has 6 partial products.</a:t>
            </a:r>
            <a:endParaRPr lang="en-US" sz="900" dirty="0"/>
          </a:p>
          <a:p>
            <a:endParaRPr lang="en-US" sz="900" dirty="0"/>
          </a:p>
          <a:p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implementation </a:t>
            </a:r>
            <a:endParaRPr lang="en-US" sz="900" dirty="0"/>
          </a:p>
          <a:p>
            <a:r>
              <a:rPr lang="en-US" sz="96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p[5]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saving one Full Adder and one AND gate — area and power reduction at the atomic level.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9019642" y="5244999"/>
            <a:ext cx="5376672" cy="1514246"/>
          </a:xfrm>
          <a:prstGeom prst="rect">
            <a:avLst/>
          </a:prstGeom>
          <a:solidFill>
            <a:srgbClr val="FFFFFF"/>
          </a:solidFill>
          <a:ln w="19050">
            <a:solidFill>
              <a:srgbClr val="00796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9019642" y="5244999"/>
            <a:ext cx="5376672" cy="30723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9085478" y="5255971"/>
            <a:ext cx="526694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Hierarchy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9085479" y="5585155"/>
            <a:ext cx="5244998" cy="113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multiplication at every precision level ultimately decomposes into SBB computations.
</a:t>
            </a:r>
            <a:r>
              <a:rPr lang="en-US" sz="96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SBB ⊂ BBU (4×SBB) ⊂ RFU (4×BBU)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26742" cy="680314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n-IN" sz="2160" dirty="0"/>
          </a:p>
        </p:txBody>
      </p:sp>
      <p:sp>
        <p:nvSpPr>
          <p:cNvPr id="3" name="Shape 1"/>
          <p:cNvSpPr/>
          <p:nvPr/>
        </p:nvSpPr>
        <p:spPr>
          <a:xfrm>
            <a:off x="0" y="680314"/>
            <a:ext cx="14626742" cy="38405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9184" y="54864"/>
            <a:ext cx="1097280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BBU — Bit Brick Unit</a:t>
            </a:r>
            <a:endParaRPr lang="en-US" sz="1920" dirty="0"/>
          </a:p>
        </p:txBody>
      </p:sp>
      <p:sp>
        <p:nvSpPr>
          <p:cNvPr id="5" name="Text 3"/>
          <p:cNvSpPr/>
          <p:nvPr/>
        </p:nvSpPr>
        <p:spPr>
          <a:xfrm>
            <a:off x="329184" y="54864"/>
            <a:ext cx="1393545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8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4×SBB + adders — computes all partial products of a 4×4-bit Karatsuba multiply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0" y="8097926"/>
            <a:ext cx="14626742" cy="13167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9184" y="8097926"/>
            <a:ext cx="9875520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PSMAC NPU  —  Precision-Scalable Multiply-Accumulate Unit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13716000" y="8097926"/>
            <a:ext cx="877824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4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197510" y="822960"/>
            <a:ext cx="8558784" cy="5980176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7510" y="822960"/>
            <a:ext cx="8558784" cy="285293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7510" y="822960"/>
            <a:ext cx="855878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Schematic</a:t>
            </a:r>
            <a:endParaRPr lang="en-US" sz="96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1401" y="1130198"/>
            <a:ext cx="8471002" cy="561807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019642" y="822960"/>
            <a:ext cx="5376672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9019642" y="822960"/>
            <a:ext cx="5376672" cy="30723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085478" y="833933"/>
            <a:ext cx="526694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BBU?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9085479" y="1163117"/>
            <a:ext cx="52449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</a:t>
            </a:r>
            <a:r>
              <a:rPr lang="en-US" sz="96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SBB cells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compute all partial products of a 4×4-bit multiply:
</a:t>
            </a:r>
            <a:r>
              <a:rPr lang="en-US" sz="96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SBB00: xL×yL,  SBB01: xL×yH
SBB10: xH×yL,  SBB11: xH×yH
</a:t>
            </a: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Ports: x[3:0], y[3:0], sx, sy, mode[1:0] → out[19:0]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019642" y="2984602"/>
            <a:ext cx="5376672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9019642" y="2984602"/>
            <a:ext cx="5376672" cy="30723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9085478" y="2995574"/>
            <a:ext cx="526694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Mode-Dependent Output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9085479" y="3324758"/>
            <a:ext cx="524499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INT2 mode (00): 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5-bit products packed: {p11u, p10u, p01u, p00u}
</a:t>
            </a:r>
            <a:r>
              <a:rPr lang="en-US" sz="96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INT4/INT8 mode: 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Karatsuba fusion:</a:t>
            </a:r>
            <a:endParaRPr lang="en-US" sz="900" dirty="0"/>
          </a:p>
          <a:p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p11_shifted + mid_shifted + p00_ext → fused[10:0]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019642" y="5047488"/>
            <a:ext cx="5376672" cy="1711757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9019642" y="5047488"/>
            <a:ext cx="5376672" cy="30723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9085478" y="5058461"/>
            <a:ext cx="526694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Adders in RTL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9085479" y="5387645"/>
            <a:ext cx="5244998" cy="1327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Add0: 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p01 + p10 → mid[5:0]  (cross terms)
</a:t>
            </a:r>
            <a:r>
              <a:rPr lang="en-US" sz="96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Add1: 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p11_shifted + mid_shifted → partial
</a:t>
            </a:r>
            <a:r>
              <a:rPr lang="en-US" sz="96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Add2: 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+ p00_ext → fused[10:0]
</a:t>
            </a: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mux selects INT2-pack vs fused based on mode.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26742" cy="680314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0314"/>
            <a:ext cx="14626742" cy="38405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9184" y="54864"/>
            <a:ext cx="1097280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RFU — Recursive Fusion Unit</a:t>
            </a:r>
            <a:endParaRPr lang="en-US" sz="1920" dirty="0"/>
          </a:p>
        </p:txBody>
      </p:sp>
      <p:sp>
        <p:nvSpPr>
          <p:cNvPr id="5" name="Text 3"/>
          <p:cNvSpPr/>
          <p:nvPr/>
        </p:nvSpPr>
        <p:spPr>
          <a:xfrm>
            <a:off x="329184" y="54864"/>
            <a:ext cx="1393545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8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4×BBU — full 8×8-bit precision-scalable multiplier core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0" y="8097926"/>
            <a:ext cx="14626742" cy="13167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9184" y="8097926"/>
            <a:ext cx="9875520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PSMAC NPU  —  Precision-Scalable Multiply-Accumulate Unit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13716000" y="8097926"/>
            <a:ext cx="877824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4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197510" y="822960"/>
            <a:ext cx="8558784" cy="5980176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7510" y="822960"/>
            <a:ext cx="8558784" cy="285293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7510" y="822960"/>
            <a:ext cx="855878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Schematic</a:t>
            </a:r>
            <a:endParaRPr lang="en-US" sz="96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1401" y="1130198"/>
            <a:ext cx="8471002" cy="561807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019642" y="822960"/>
            <a:ext cx="5376672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9019642" y="822960"/>
            <a:ext cx="5376672" cy="30723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085478" y="833933"/>
            <a:ext cx="526694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RFU?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9085479" y="1163117"/>
            <a:ext cx="524499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top-level multiply core. Contains </a:t>
            </a:r>
            <a:r>
              <a:rPr lang="en-US" sz="96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BBU instances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splitting 8-bit inputs into nibbles:
</a:t>
            </a:r>
            <a:r>
              <a:rPr lang="en-US" sz="96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BBU0: xL×yL,  BBU1: xL×yH
BBU2: xH×yL,  BBU3: xH×yH
</a:t>
            </a: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out[79:0] — packed based on mode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019642" y="2874874"/>
            <a:ext cx="5376672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9019642" y="2874874"/>
            <a:ext cx="5376672" cy="30723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9085478" y="2885846"/>
            <a:ext cx="526694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80-bit Output Layout by Mode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9107424" y="3379622"/>
            <a:ext cx="1152144" cy="24140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9107424" y="3379622"/>
            <a:ext cx="1152144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(2'b10):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10336378" y="3379623"/>
            <a:ext cx="3895344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4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[15:0] = single 16-bit Karatsuba result</a:t>
            </a:r>
            <a:endParaRPr lang="en-US" sz="864" dirty="0"/>
          </a:p>
          <a:p>
            <a:r>
              <a:rPr lang="en-US" sz="864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[79:16] = zeros</a:t>
            </a:r>
            <a:endParaRPr lang="en-US" sz="864" dirty="0"/>
          </a:p>
        </p:txBody>
      </p:sp>
      <p:sp>
        <p:nvSpPr>
          <p:cNvPr id="23" name="Shape 20"/>
          <p:cNvSpPr/>
          <p:nvPr/>
        </p:nvSpPr>
        <p:spPr>
          <a:xfrm>
            <a:off x="9107424" y="3928262"/>
            <a:ext cx="1152144" cy="24140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9107424" y="3928262"/>
            <a:ext cx="1152144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INT4 (2'b01):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10336378" y="3928263"/>
            <a:ext cx="3895344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4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11-bit slots: p0[10:0], p1[21:11], p2[32:22], p3[43:33]</a:t>
            </a:r>
            <a:endParaRPr lang="en-US" sz="864" dirty="0"/>
          </a:p>
        </p:txBody>
      </p:sp>
      <p:sp>
        <p:nvSpPr>
          <p:cNvPr id="26" name="Shape 23"/>
          <p:cNvSpPr/>
          <p:nvPr/>
        </p:nvSpPr>
        <p:spPr>
          <a:xfrm>
            <a:off x="9107424" y="4476902"/>
            <a:ext cx="1152144" cy="24140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9107424" y="4476902"/>
            <a:ext cx="1152144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INT2 (2'b00):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10336378" y="4476903"/>
            <a:ext cx="3895344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4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p3[19:0], p2[19:0], p1[19:0], p0[19:0] — 16 sub-products</a:t>
            </a:r>
            <a:endParaRPr lang="en-US" sz="864" dirty="0"/>
          </a:p>
        </p:txBody>
      </p:sp>
      <p:sp>
        <p:nvSpPr>
          <p:cNvPr id="29" name="Shape 26"/>
          <p:cNvSpPr/>
          <p:nvPr/>
        </p:nvSpPr>
        <p:spPr>
          <a:xfrm>
            <a:off x="9019642" y="5310835"/>
            <a:ext cx="5376672" cy="144841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9019642" y="5310835"/>
            <a:ext cx="5376672" cy="30723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9085478" y="5321808"/>
            <a:ext cx="526694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Combinational</a:t>
            </a:r>
            <a:endParaRPr lang="en-US" sz="960" dirty="0"/>
          </a:p>
        </p:txBody>
      </p:sp>
      <p:sp>
        <p:nvSpPr>
          <p:cNvPr id="32" name="Text 29"/>
          <p:cNvSpPr/>
          <p:nvPr/>
        </p:nvSpPr>
        <p:spPr>
          <a:xfrm>
            <a:off x="9085479" y="5650992"/>
            <a:ext cx="5244998" cy="1064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clocked elements in RFU. All computation is purely combinational — output valid within the same clock cycle that inputs are presented. This enables the 2-stage pipeline in psmac_top.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26742" cy="680314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0314"/>
            <a:ext cx="14626742" cy="38405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9184" y="54864"/>
            <a:ext cx="1097280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weight_mem — Memory array</a:t>
            </a:r>
            <a:endParaRPr lang="en-US" sz="1920" dirty="0"/>
          </a:p>
        </p:txBody>
      </p:sp>
      <p:sp>
        <p:nvSpPr>
          <p:cNvPr id="5" name="Text 3"/>
          <p:cNvSpPr/>
          <p:nvPr/>
        </p:nvSpPr>
        <p:spPr>
          <a:xfrm>
            <a:off x="329184" y="54864"/>
            <a:ext cx="1393545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8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256×8-bit SRAM with asynchronous read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0" y="8097926"/>
            <a:ext cx="14626742" cy="13167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9184" y="8097926"/>
            <a:ext cx="9875520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PSMAC NPU  —  Precision-Scalable Multiply-Accumulate Unit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13716000" y="8097926"/>
            <a:ext cx="877824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4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197510" y="822960"/>
            <a:ext cx="8558784" cy="5980176"/>
          </a:xfrm>
          <a:prstGeom prst="rect">
            <a:avLst/>
          </a:prstGeom>
          <a:solidFill>
            <a:srgbClr val="FFFFFF"/>
          </a:solidFill>
          <a:ln w="19050">
            <a:solidFill>
              <a:srgbClr val="2196F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7510" y="822960"/>
            <a:ext cx="8558784" cy="285293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7510" y="822960"/>
            <a:ext cx="855878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Schematic</a:t>
            </a:r>
            <a:endParaRPr lang="en-US" sz="96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1401" y="1130198"/>
            <a:ext cx="8471002" cy="561807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019642" y="822960"/>
            <a:ext cx="5376672" cy="1865376"/>
          </a:xfrm>
          <a:prstGeom prst="rect">
            <a:avLst/>
          </a:prstGeom>
          <a:solidFill>
            <a:srgbClr val="FFFFFF"/>
          </a:solidFill>
          <a:ln w="19050">
            <a:solidFill>
              <a:srgbClr val="2196F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9019642" y="822960"/>
            <a:ext cx="5376672" cy="30723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085478" y="833933"/>
            <a:ext cx="526694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weight_mem?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9085479" y="1163117"/>
            <a:ext cx="524499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both </a:t>
            </a:r>
            <a:r>
              <a:rPr lang="en-US" sz="96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activations (x_mem)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96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(w_mem)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  <a:p>
            <a:endParaRPr lang="en-US" sz="900" dirty="0"/>
          </a:p>
          <a:p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a 256-deep × 8-bit wide SRAM block.</a:t>
            </a:r>
            <a:endParaRPr lang="en-US" sz="900" dirty="0"/>
          </a:p>
          <a:p>
            <a:endParaRPr lang="en-US" sz="900" dirty="0"/>
          </a:p>
          <a:p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FSM drives a single </a:t>
            </a:r>
            <a:endParaRPr lang="en-US" sz="900" dirty="0"/>
          </a:p>
          <a:p>
            <a:r>
              <a:rPr lang="en-US" sz="96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addr[7:0]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port — both memories read the same address simultaneously.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019642" y="2820010"/>
            <a:ext cx="5376672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9019642" y="2820010"/>
            <a:ext cx="5376672" cy="30723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9085478" y="2830982"/>
            <a:ext cx="526694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Read — Critical Design Choice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9085479" y="3160166"/>
            <a:ext cx="524499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x_out = x_mem[addr]
assign w_out = w_mem[addr]
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valid </a:t>
            </a:r>
            <a:r>
              <a:rPr lang="en-US" sz="96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cycle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FSM drives addr. This eliminates one pipeline stage — the RFU can begin computing immediately without waiting one extra clock for memory output.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019642" y="4871923"/>
            <a:ext cx="5376672" cy="1887322"/>
          </a:xfrm>
          <a:prstGeom prst="rect">
            <a:avLst/>
          </a:prstGeom>
          <a:solidFill>
            <a:srgbClr val="FFFFFF"/>
          </a:solidFill>
          <a:ln w="19050">
            <a:solidFill>
              <a:srgbClr val="2196F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9019642" y="4871923"/>
            <a:ext cx="5376672" cy="30723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9085478" y="4882896"/>
            <a:ext cx="526694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Interface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9085479" y="5212080"/>
            <a:ext cx="5244998" cy="1503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are </a:t>
            </a:r>
            <a:r>
              <a:rPr lang="en-US" sz="96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(posedge clk).
</a:t>
            </a:r>
            <a:r>
              <a:rPr lang="en-US" sz="96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w-path: 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we_w, w_addr[7:0], w_data[7:0]
</a:t>
            </a:r>
            <a:r>
              <a:rPr lang="en-US" sz="96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x-path: 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we_x, x_addr[7:0], x_data[7:0]
</a:t>
            </a:r>
            <a:r>
              <a:rPr lang="en-US" sz="9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Testbench loads all values before asserting psmac_en.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26742" cy="680314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0314"/>
            <a:ext cx="14626742" cy="38405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9184" y="54864"/>
            <a:ext cx="1097280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pipe_reg — Pipeline Register  </a:t>
            </a:r>
            <a:endParaRPr lang="en-US" sz="1920" dirty="0"/>
          </a:p>
        </p:txBody>
      </p:sp>
      <p:sp>
        <p:nvSpPr>
          <p:cNvPr id="5" name="Text 3"/>
          <p:cNvSpPr/>
          <p:nvPr/>
        </p:nvSpPr>
        <p:spPr>
          <a:xfrm>
            <a:off x="329184" y="54864"/>
            <a:ext cx="1393545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8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80-bit D-FF bank — breaks combinational path for timing closure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0" y="8097926"/>
            <a:ext cx="14626742" cy="13167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9184" y="8097926"/>
            <a:ext cx="9875520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PSMAC NPU  —  Precision-Scalable Multiply-Accumulate Unit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13716000" y="8097926"/>
            <a:ext cx="877824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4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197510" y="822960"/>
            <a:ext cx="8558784" cy="5980176"/>
          </a:xfrm>
          <a:prstGeom prst="rect">
            <a:avLst/>
          </a:prstGeom>
          <a:solidFill>
            <a:srgbClr val="FFFFFF"/>
          </a:solidFill>
          <a:ln w="19050">
            <a:solidFill>
              <a:srgbClr val="2196F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7510" y="822960"/>
            <a:ext cx="8558784" cy="285293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7510" y="822960"/>
            <a:ext cx="855878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Schematic</a:t>
            </a:r>
            <a:endParaRPr lang="en-US" sz="96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1401" y="1130198"/>
            <a:ext cx="8471002" cy="5618074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019642" y="822960"/>
            <a:ext cx="5376672" cy="1810512"/>
          </a:xfrm>
          <a:prstGeom prst="rect">
            <a:avLst/>
          </a:prstGeom>
          <a:solidFill>
            <a:srgbClr val="FFFFFF"/>
          </a:solidFill>
          <a:ln w="19050">
            <a:solidFill>
              <a:srgbClr val="2196F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9019642" y="822960"/>
            <a:ext cx="5376672" cy="30723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9085478" y="833933"/>
            <a:ext cx="526694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pipe_reg?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9085479" y="1163117"/>
            <a:ext cx="524499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80-bit wide </a:t>
            </a:r>
            <a:r>
              <a:rPr lang="en-US" sz="96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clocked D-FF register bank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latches the RFU output on posedge clk when </a:t>
            </a:r>
            <a:r>
              <a:rPr lang="en-US" sz="96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pipe_en = 1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  <a:p>
            <a:endParaRPr lang="en-US" sz="900" dirty="0"/>
          </a:p>
          <a:p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pipelines: mode[1:0], sx, sy — so the accumulator always knows the mode of the data currently in the register.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019642" y="2765146"/>
            <a:ext cx="5376672" cy="2084832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9019642" y="2765146"/>
            <a:ext cx="5376672" cy="30723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9085478" y="2776118"/>
            <a:ext cx="526694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 — Timing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9085479" y="3105302"/>
            <a:ext cx="524499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chain: weight_mem (async) → RFU (combinational) creates a very long combinational path.
</a:t>
            </a:r>
            <a:r>
              <a:rPr lang="en-US" sz="96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pipe_reg: 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80-bit RFU output directly drives the accumulator — critical path too long for high Fmax.
</a:t>
            </a:r>
            <a:r>
              <a:rPr lang="en-US" sz="96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pipe_reg: 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is broken into two stages. Each stage can run at higher frequency.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019642" y="4981651"/>
            <a:ext cx="5376672" cy="1777594"/>
          </a:xfrm>
          <a:prstGeom prst="rect">
            <a:avLst/>
          </a:prstGeom>
          <a:solidFill>
            <a:srgbClr val="FFFFFF"/>
          </a:solidFill>
          <a:ln w="19050">
            <a:solidFill>
              <a:srgbClr val="2196F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9019642" y="4981651"/>
            <a:ext cx="5376672" cy="30723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9085478" y="4992624"/>
            <a:ext cx="5266944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Reset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9085479" y="5321808"/>
            <a:ext cx="5244998" cy="1393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6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rst=1:
</a:t>
            </a:r>
            <a:r>
              <a:rPr lang="en-US" sz="96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data_out ← 0,  mode_out ← 0,  sx_out ← 0,  sy_out ← 0
</a:t>
            </a:r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en=1 (pipe_en from FSM):</a:t>
            </a:r>
            <a:endParaRPr lang="en-US" sz="900" dirty="0"/>
          </a:p>
          <a:p>
            <a:r>
              <a:rPr lang="en-US" sz="96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outputs latch their respective inputs.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26742" cy="680314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0314"/>
            <a:ext cx="14626742" cy="38405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9184" y="54864"/>
            <a:ext cx="10972800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psmac_top — Full Integration </a:t>
            </a:r>
            <a:endParaRPr lang="en-US" sz="1920" dirty="0"/>
          </a:p>
        </p:txBody>
      </p:sp>
      <p:sp>
        <p:nvSpPr>
          <p:cNvPr id="5" name="Text 3"/>
          <p:cNvSpPr/>
          <p:nvPr/>
        </p:nvSpPr>
        <p:spPr>
          <a:xfrm>
            <a:off x="329184" y="54864"/>
            <a:ext cx="13935456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8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module: all blocks connected with 2-stage pipeline and acc_en_d1 alignment fix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0" y="8097926"/>
            <a:ext cx="14626742" cy="131674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9184" y="8097926"/>
            <a:ext cx="9875520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4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PSMAC NPU  —  Precision-Scalable Multiply-Accumulate Unit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13716000" y="8097926"/>
            <a:ext cx="877824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4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197510" y="822960"/>
            <a:ext cx="14231722" cy="4992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7510" y="822960"/>
            <a:ext cx="14231722" cy="28529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7510" y="822960"/>
            <a:ext cx="14231722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 Schematic — psmac_top</a:t>
            </a:r>
            <a:endParaRPr lang="en-US" sz="96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1402" y="1130198"/>
            <a:ext cx="14143939" cy="463052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97510" y="5936285"/>
            <a:ext cx="340156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197510" y="5936285"/>
            <a:ext cx="3401568" cy="30723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63347" y="5947258"/>
            <a:ext cx="329184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2-Stage Pipeline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263347" y="6276442"/>
            <a:ext cx="326989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4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 → weight_mem (comb) → RFU (comb) → pipe_reg (clocked) → accumulator (clocked)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818534" y="5936285"/>
            <a:ext cx="340156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3818534" y="5936285"/>
            <a:ext cx="3401568" cy="30723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884371" y="5947258"/>
            <a:ext cx="329184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acc_en_d1 Fix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3884371" y="6276442"/>
            <a:ext cx="326989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4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D-FF delays acc_en by 1 cycle. Prevents accumulator from adding stale pipe_reg data.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439558" y="5936285"/>
            <a:ext cx="340156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7439558" y="5936285"/>
            <a:ext cx="3401568" cy="30723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505395" y="5947258"/>
            <a:ext cx="329184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ov_d1 Register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7505395" y="6276442"/>
            <a:ext cx="326989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4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out_valid delayed 1 cycle to ensure result is fully stable before asserting to testbench.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1060582" y="5936285"/>
            <a:ext cx="340156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546E7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11060582" y="5936285"/>
            <a:ext cx="3401568" cy="30723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11126419" y="5947258"/>
            <a:ext cx="329184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Ports</a:t>
            </a:r>
            <a:endParaRPr lang="en-US" sz="960" dirty="0"/>
          </a:p>
        </p:txBody>
      </p:sp>
      <p:sp>
        <p:nvSpPr>
          <p:cNvPr id="28" name="Text 25"/>
          <p:cNvSpPr/>
          <p:nvPr/>
        </p:nvSpPr>
        <p:spPr>
          <a:xfrm>
            <a:off x="11126419" y="6276442"/>
            <a:ext cx="326989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4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dbg_x_out, dbg_w_out, dbg_rfu_out, dbg_pipe_out, dbg_acc_en_d2, dbg_pipe_en exposed for waveform inspection.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95D739-5293-DF51-2F91-24694D530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"/>
            <a:ext cx="14630400" cy="822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31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27E091-A552-2F61-60F6-51B06B6B6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"/>
            <a:ext cx="14630400" cy="822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35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487442"/>
            <a:ext cx="5424011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NPU Controller (npu_ctrl)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7303651" y="1252538"/>
            <a:ext cx="22860" cy="4751903"/>
          </a:xfrm>
          <a:prstGeom prst="roundRect">
            <a:avLst>
              <a:gd name="adj" fmla="val 109302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50891" y="1428393"/>
            <a:ext cx="499705" cy="22860"/>
          </a:xfrm>
          <a:prstGeom prst="roundRect">
            <a:avLst>
              <a:gd name="adj" fmla="val 109302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27736" y="1252538"/>
            <a:ext cx="374690" cy="374690"/>
          </a:xfrm>
          <a:prstGeom prst="roundRect">
            <a:avLst>
              <a:gd name="adj" fmla="val 6669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90125" y="1283672"/>
            <a:ext cx="24979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400074" y="1309688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IDLE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68291" y="1643301"/>
            <a:ext cx="491394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Initial state, awaiting command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79566" y="2339221"/>
            <a:ext cx="499705" cy="22860"/>
          </a:xfrm>
          <a:prstGeom prst="roundRect">
            <a:avLst>
              <a:gd name="adj" fmla="val 109302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127736" y="2163366"/>
            <a:ext cx="374690" cy="374690"/>
          </a:xfrm>
          <a:prstGeom prst="roundRect">
            <a:avLst>
              <a:gd name="adj" fmla="val 6669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90125" y="2194500"/>
            <a:ext cx="24979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147923" y="2220516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LOAD_W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47923" y="2554129"/>
            <a:ext cx="4914067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Load weights into tile memories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50891" y="3156347"/>
            <a:ext cx="499705" cy="22860"/>
          </a:xfrm>
          <a:prstGeom prst="roundRect">
            <a:avLst>
              <a:gd name="adj" fmla="val 109302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127736" y="2980492"/>
            <a:ext cx="374690" cy="374690"/>
          </a:xfrm>
          <a:prstGeom prst="roundRect">
            <a:avLst>
              <a:gd name="adj" fmla="val 6669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90125" y="3011626"/>
            <a:ext cx="24979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400074" y="3037642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LOAD_X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68291" y="3371255"/>
            <a:ext cx="491394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Broadcast inputs per column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79566" y="3973473"/>
            <a:ext cx="499705" cy="22860"/>
          </a:xfrm>
          <a:prstGeom prst="roundRect">
            <a:avLst>
              <a:gd name="adj" fmla="val 109302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127736" y="3797618"/>
            <a:ext cx="374690" cy="374690"/>
          </a:xfrm>
          <a:prstGeom prst="roundRect">
            <a:avLst>
              <a:gd name="adj" fmla="val 6669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90125" y="3828752"/>
            <a:ext cx="24979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147923" y="3854768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RUN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47923" y="4188381"/>
            <a:ext cx="4914067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Trigger parallel computation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50891" y="4790599"/>
            <a:ext cx="499705" cy="22860"/>
          </a:xfrm>
          <a:prstGeom prst="roundRect">
            <a:avLst>
              <a:gd name="adj" fmla="val 109302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127736" y="4614743"/>
            <a:ext cx="374690" cy="374690"/>
          </a:xfrm>
          <a:prstGeom prst="roundRect">
            <a:avLst>
              <a:gd name="adj" fmla="val 6669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190125" y="4645878"/>
            <a:ext cx="249793" cy="31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4400074" y="4671893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COLLECT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68291" y="5005507"/>
            <a:ext cx="4913948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Gather results via MUX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568291" y="6264235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Control Signals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68291" y="6646783"/>
            <a:ext cx="5543669" cy="105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we_w, we_x (write enables)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psmac_en (enable MACs)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tile_sel, col_sel</a:t>
            </a:r>
            <a:endParaRPr lang="en-US" sz="13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result_sel, npu_valid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525822" y="6264235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25822" y="6646783"/>
            <a:ext cx="5543669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Automates full inference cycle, optimizes data movement, controls 16 MAC units in parallel with shared control signals.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3393" y="606743"/>
            <a:ext cx="7730014" cy="1262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Full NPU Architecture (4×4 Array)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6193393" y="2139077"/>
            <a:ext cx="3774996" cy="1918811"/>
          </a:xfrm>
          <a:prstGeom prst="roundRect">
            <a:avLst>
              <a:gd name="adj" fmla="val 1579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323" y="2341007"/>
            <a:ext cx="606028" cy="60602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2011" y="2507575"/>
            <a:ext cx="272653" cy="27265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395323" y="312693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16 PSMAC Tiles</a:t>
            </a:r>
            <a:endParaRPr lang="en-US" sz="1950" dirty="0"/>
          </a:p>
        </p:txBody>
      </p:sp>
      <p:sp>
        <p:nvSpPr>
          <p:cNvPr id="8" name="Text 3"/>
          <p:cNvSpPr/>
          <p:nvPr/>
        </p:nvSpPr>
        <p:spPr>
          <a:xfrm>
            <a:off x="6395323" y="3550444"/>
            <a:ext cx="337113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4×4 grid computes Y = W × X</a:t>
            </a:r>
            <a:endParaRPr lang="en-US" sz="1550" dirty="0"/>
          </a:p>
        </p:txBody>
      </p:sp>
      <p:sp>
        <p:nvSpPr>
          <p:cNvPr id="9" name="Shape 4"/>
          <p:cNvSpPr/>
          <p:nvPr/>
        </p:nvSpPr>
        <p:spPr>
          <a:xfrm>
            <a:off x="10148292" y="2139077"/>
            <a:ext cx="3775115" cy="1918811"/>
          </a:xfrm>
          <a:prstGeom prst="roundRect">
            <a:avLst>
              <a:gd name="adj" fmla="val 1579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0222" y="2341007"/>
            <a:ext cx="606028" cy="606028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6910" y="2507575"/>
            <a:ext cx="272653" cy="27265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350222" y="312693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Weight-Stationary</a:t>
            </a:r>
            <a:endParaRPr lang="en-US" sz="1950" dirty="0"/>
          </a:p>
        </p:txBody>
      </p:sp>
      <p:sp>
        <p:nvSpPr>
          <p:cNvPr id="13" name="Text 6"/>
          <p:cNvSpPr/>
          <p:nvPr/>
        </p:nvSpPr>
        <p:spPr>
          <a:xfrm>
            <a:off x="10350222" y="3550444"/>
            <a:ext cx="3371255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Local storage, input streaming</a:t>
            </a:r>
            <a:endParaRPr lang="en-US" sz="1550" dirty="0"/>
          </a:p>
        </p:txBody>
      </p:sp>
      <p:sp>
        <p:nvSpPr>
          <p:cNvPr id="14" name="Shape 7"/>
          <p:cNvSpPr/>
          <p:nvPr/>
        </p:nvSpPr>
        <p:spPr>
          <a:xfrm>
            <a:off x="6193393" y="4237792"/>
            <a:ext cx="7730014" cy="1918811"/>
          </a:xfrm>
          <a:prstGeom prst="roundRect">
            <a:avLst>
              <a:gd name="adj" fmla="val 1579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5323" y="4439722"/>
            <a:ext cx="606028" cy="606028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62011" y="4606290"/>
            <a:ext cx="272653" cy="27265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395323" y="522565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High Throughput</a:t>
            </a:r>
            <a:endParaRPr lang="en-US" sz="1950" dirty="0"/>
          </a:p>
        </p:txBody>
      </p:sp>
      <p:sp>
        <p:nvSpPr>
          <p:cNvPr id="18" name="Text 9"/>
          <p:cNvSpPr/>
          <p:nvPr/>
        </p:nvSpPr>
        <p:spPr>
          <a:xfrm>
            <a:off x="6395323" y="5649158"/>
            <a:ext cx="73261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16-64 MACs/cycle depending on precision</a:t>
            </a:r>
            <a:endParaRPr lang="en-US" sz="1550" dirty="0"/>
          </a:p>
        </p:txBody>
      </p:sp>
      <p:sp>
        <p:nvSpPr>
          <p:cNvPr id="19" name="Text 10"/>
          <p:cNvSpPr/>
          <p:nvPr/>
        </p:nvSpPr>
        <p:spPr>
          <a:xfrm>
            <a:off x="6193393" y="6426398"/>
            <a:ext cx="3892034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Matrix Multiplication Mapping</a:t>
            </a:r>
            <a:endParaRPr lang="en-US" sz="1950" dirty="0"/>
          </a:p>
        </p:txBody>
      </p:sp>
      <p:sp>
        <p:nvSpPr>
          <p:cNvPr id="20" name="Text 11"/>
          <p:cNvSpPr/>
          <p:nvPr/>
        </p:nvSpPr>
        <p:spPr>
          <a:xfrm>
            <a:off x="6193393" y="7011829"/>
            <a:ext cx="77300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Each tile computes one output element Y[r][c] through parallel computation with shared control signals.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6597" y="536258"/>
            <a:ext cx="5397818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Implementation Results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106597" y="1386245"/>
            <a:ext cx="3865245" cy="58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4×4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931700" y="216336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NPU Size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106597" y="2523172"/>
            <a:ext cx="386524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 MAC tiles in systolic array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144839" y="1386245"/>
            <a:ext cx="3865364" cy="58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40 MHz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10969943" y="216336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Operating Freq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144839" y="2523172"/>
            <a:ext cx="386536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Maximum clock speed achieved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125658" y="3140988"/>
            <a:ext cx="3865364" cy="58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100%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8917067" y="3918109"/>
            <a:ext cx="2282428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Resource Utilization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125658" y="4277916"/>
            <a:ext cx="386536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Efficient logic usage on Cyclone IV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106597" y="473797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Key Achievements</a:t>
            </a:r>
            <a:endParaRPr lang="en-US" sz="2050" dirty="0"/>
          </a:p>
        </p:txBody>
      </p:sp>
      <p:sp>
        <p:nvSpPr>
          <p:cNvPr id="14" name="Shape 11"/>
          <p:cNvSpPr/>
          <p:nvPr/>
        </p:nvSpPr>
        <p:spPr>
          <a:xfrm>
            <a:off x="6106597" y="5277922"/>
            <a:ext cx="3882628" cy="1264682"/>
          </a:xfrm>
          <a:prstGeom prst="roundRect">
            <a:avLst>
              <a:gd name="adj" fmla="val 2102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306622" y="5477947"/>
            <a:ext cx="223754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4× Throughput Gain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306622" y="5837753"/>
            <a:ext cx="348257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INT2 mode delivers quadruple processing rate vs INT8 baseline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10127575" y="5277922"/>
            <a:ext cx="3882628" cy="1264682"/>
          </a:xfrm>
          <a:prstGeom prst="roundRect">
            <a:avLst>
              <a:gd name="adj" fmla="val 2102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10327600" y="5477947"/>
            <a:ext cx="2313861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Unified Architecture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0327600" y="5837753"/>
            <a:ext cx="348257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Single design supports all precision levels without hardware duplication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106597" y="6680954"/>
            <a:ext cx="7903607" cy="1012269"/>
          </a:xfrm>
          <a:prstGeom prst="roundRect">
            <a:avLst>
              <a:gd name="adj" fmla="val 2626"/>
            </a:avLst>
          </a:prstGeom>
          <a:solidFill>
            <a:srgbClr val="07070C"/>
          </a:solidFill>
          <a:ln w="22860">
            <a:solidFill>
              <a:srgbClr val="3F3F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306622" y="6880979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FPGA-Optimized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306622" y="7240786"/>
            <a:ext cx="750355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Low-cost Cyclone IV implementation suitable for edge deployment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8158" y="627578"/>
            <a:ext cx="6897410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Conclusion &amp; Future Work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218158" y="1762839"/>
            <a:ext cx="3136583" cy="391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Key Contributions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218158" y="2347555"/>
            <a:ext cx="3585210" cy="3483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First 4×4 NPU with runtime precision scaling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Single datapath for INT2/INT4/INT8 operations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4× throughput improvement at lower precision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FPGA-friendly systolic architecture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Weight-stationary dataflow for efficiency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321052" y="1762839"/>
            <a:ext cx="3459837" cy="391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Future Enhancements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10321052" y="2347555"/>
            <a:ext cx="3585210" cy="3483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Integration with larger AI accelerator platforms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Support for floating-point precision modes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Advanced quantization-aware training methods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Power gating for dynamic voltage scaling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Multi-layer neural network automation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8158" y="6114812"/>
            <a:ext cx="7680484" cy="1487091"/>
          </a:xfrm>
          <a:prstGeom prst="roundRect">
            <a:avLst>
              <a:gd name="adj" fmla="val 2109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7232" y="6444615"/>
            <a:ext cx="261342" cy="2090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97648" y="6359843"/>
            <a:ext cx="6791920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Impact:</a:t>
            </a:r>
            <a:r>
              <a:rPr lang="en-US" sz="16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This design bridges the gap between fixed-precision ASICs and flexible FPGA implementations, enabling adaptive precision for edge AI applications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1653</Words>
  <Application>Microsoft Office PowerPoint</Application>
  <PresentationFormat>Custom</PresentationFormat>
  <Paragraphs>198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Arial</vt:lpstr>
      <vt:lpstr>Noto Sans TC</vt:lpstr>
      <vt:lpstr>Sora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Sriram Palaniswamy</dc:creator>
  <cp:lastModifiedBy>Sriram Palaniswamy</cp:lastModifiedBy>
  <cp:revision>2</cp:revision>
  <dcterms:created xsi:type="dcterms:W3CDTF">2026-04-15T16:52:01Z</dcterms:created>
  <dcterms:modified xsi:type="dcterms:W3CDTF">2026-04-15T17:10:39Z</dcterms:modified>
</cp:coreProperties>
</file>